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p:scale>
          <a:sx n="68" d="100"/>
          <a:sy n="68" d="100"/>
        </p:scale>
        <p:origin x="7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CF5D-E4F5-239D-1DCB-B138223A69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CF8C05-BB39-432B-BFF7-A868EBF4B1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7C431B-E1E4-75F1-0017-C5FE43F12B3C}"/>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B5D15E47-5151-1943-E495-205F0255D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99DD5-E2FD-CEFE-60C8-6EA1E3B2564A}"/>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55225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2236-E972-2100-DE48-DC1A01DA2B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E5ECD-64F4-129D-CC04-FF5796C07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2D25D-B76D-3E59-CF73-A4241FA74142}"/>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76781447-D88E-553A-F8F0-14D9C8B1E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58ACFE-89F7-66F0-8A26-7C10DB43E3C9}"/>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25410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E9BB7-7A65-178A-FFE7-496AE28BDC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9F46E5-F41E-7F4A-1328-C6F8070AE8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BDFFB-1218-285E-9127-68C2C18B08E3}"/>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AF0526B0-74A1-0945-4637-E2102432F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4ED21B-A311-C36A-5CE6-1C75E2F69DE1}"/>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2133593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7C67-5282-4468-02EE-700DF69A5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DB91B-19E9-1336-6E3C-091C64F7A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7C95A8-3AD9-884F-26AD-2E68F6C1D0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78B200-91C3-A106-A9AC-4F92FDFB5716}"/>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6" name="Footer Placeholder 5">
            <a:extLst>
              <a:ext uri="{FF2B5EF4-FFF2-40B4-BE49-F238E27FC236}">
                <a16:creationId xmlns:a16="http://schemas.microsoft.com/office/drawing/2014/main" id="{8752A38C-673F-15DE-8504-BB70DE53F3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7A813B-6785-3452-EDBD-3CF814DC01E9}"/>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260995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3B763-1259-BFAC-1DE9-C97777B47D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1BDC18-D558-39CA-D33A-FA7D38FF3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2F410F-C83D-EDB6-9213-AAE93BC313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9DC603-D832-7FC4-675E-B1B89503A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710C06-685C-FE0E-4628-334EF2A6E6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6C11F-EFA3-1C4F-8FFA-7D2CB857208E}"/>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8" name="Footer Placeholder 7">
            <a:extLst>
              <a:ext uri="{FF2B5EF4-FFF2-40B4-BE49-F238E27FC236}">
                <a16:creationId xmlns:a16="http://schemas.microsoft.com/office/drawing/2014/main" id="{4F738485-E47A-032F-5AF6-5652496AEB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4371BB-41D4-A2CC-0698-0DD2C65CEBD0}"/>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2430936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B8400-07C8-6115-1B1C-EEAC223464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817CA7-2A88-8813-5AB0-47457406A391}"/>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4" name="Footer Placeholder 3">
            <a:extLst>
              <a:ext uri="{FF2B5EF4-FFF2-40B4-BE49-F238E27FC236}">
                <a16:creationId xmlns:a16="http://schemas.microsoft.com/office/drawing/2014/main" id="{AADAF262-72AA-C5C0-E292-3C47C31EBD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BA771A-CE62-7D1F-BF07-CAD51DF5F733}"/>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1876387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C5876-5D18-8E50-A133-5A58E1FCB8CC}"/>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3" name="Footer Placeholder 2">
            <a:extLst>
              <a:ext uri="{FF2B5EF4-FFF2-40B4-BE49-F238E27FC236}">
                <a16:creationId xmlns:a16="http://schemas.microsoft.com/office/drawing/2014/main" id="{EA0B6671-0828-6EAF-1129-6CA768ADF8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F8AA3A-7E22-B414-5C31-BBC8D73DB919}"/>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901063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F1F1-9BB1-8145-D27B-5B3CE7486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88E38A-FF88-6D36-8045-81251DC022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6FF7A5-3A14-F7F5-EECB-7F9FFD476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DC0006-E45C-C507-54F7-0ADD0F2E3BFF}"/>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6" name="Footer Placeholder 5">
            <a:extLst>
              <a:ext uri="{FF2B5EF4-FFF2-40B4-BE49-F238E27FC236}">
                <a16:creationId xmlns:a16="http://schemas.microsoft.com/office/drawing/2014/main" id="{60A13B1C-FB4F-0AF2-57C2-5AA056C3C6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4D9B3F-3949-3A9C-A12D-701EF2D3F95C}"/>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93520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C549-420C-110E-4345-D1A51E29D1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A5B967-43AE-B8A8-7CA1-EE5476CB33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C933FF-177B-4654-BC89-D1DB2A5DF1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1B2CC-DCCC-7A42-43F1-93AF70B90687}"/>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6" name="Footer Placeholder 5">
            <a:extLst>
              <a:ext uri="{FF2B5EF4-FFF2-40B4-BE49-F238E27FC236}">
                <a16:creationId xmlns:a16="http://schemas.microsoft.com/office/drawing/2014/main" id="{CCBEE0E5-C997-41AC-7F3E-2FDB628EFB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DE8BDE-9CE8-0C86-DD14-CEDE274DF67F}"/>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399230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6D9E-DFFD-28DC-667A-7E12EC9CDD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30746B-7DFF-B790-B0F0-7D56F3AACF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AA4BBF-ED91-178E-5A9B-4357C1A26779}"/>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FC314F4D-F03A-3DC6-2598-6779E74C88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106B4C-DBDF-66A7-9A3E-CCC0D61F61D3}"/>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175021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71669-AD7D-B5F6-1466-D3197AD22B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7D5B61-CB79-40B7-9D83-7ED5BEEE6D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98E98-D3F6-120A-3AF4-9339B945AD8C}"/>
              </a:ext>
            </a:extLst>
          </p:cNvPr>
          <p:cNvSpPr>
            <a:spLocks noGrp="1"/>
          </p:cNvSpPr>
          <p:nvPr>
            <p:ph type="dt" sz="half" idx="10"/>
          </p:nvPr>
        </p:nvSpPr>
        <p:spPr/>
        <p:txBody>
          <a:body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C0BB449D-690A-83C3-6BAC-0006F407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68E05D-0123-DCD2-F489-39DD60D079D0}"/>
              </a:ext>
            </a:extLst>
          </p:cNvPr>
          <p:cNvSpPr>
            <a:spLocks noGrp="1"/>
          </p:cNvSpPr>
          <p:nvPr>
            <p:ph type="sldNum" sz="quarter" idx="12"/>
          </p:nvPr>
        </p:nvSpPr>
        <p:spPr/>
        <p:txBody>
          <a:bodyPr/>
          <a:lstStyle/>
          <a:p>
            <a:fld id="{C072359A-7C06-4C5D-BFBB-00B4D6D71EBB}" type="slidenum">
              <a:rPr lang="en-US" smtClean="0"/>
              <a:t>‹#›</a:t>
            </a:fld>
            <a:endParaRPr lang="en-US"/>
          </a:p>
        </p:txBody>
      </p:sp>
    </p:spTree>
    <p:extLst>
      <p:ext uri="{BB962C8B-B14F-4D97-AF65-F5344CB8AC3E}">
        <p14:creationId xmlns:p14="http://schemas.microsoft.com/office/powerpoint/2010/main" val="3873318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000">
              <a:schemeClr val="accent6">
                <a:lumMod val="50000"/>
              </a:schemeClr>
            </a:gs>
            <a:gs pos="40000">
              <a:schemeClr val="accent6">
                <a:lumMod val="75000"/>
              </a:schemeClr>
            </a:gs>
            <a:gs pos="74000">
              <a:schemeClr val="accent6">
                <a:lumMod val="75000"/>
              </a:schemeClr>
            </a:gs>
            <a:gs pos="100000">
              <a:schemeClr val="accent6">
                <a:lumMod val="50000"/>
              </a:schemeClr>
            </a:gs>
          </a:gsLst>
          <a:path path="circle">
            <a:fillToRect l="100000" t="10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B14D08-E570-CDFD-F085-E6B0DDEAD4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76A5FC-E047-FECC-EA14-40CD96973A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E680A-1F48-C6D4-F9D5-53311EDA8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01ACC3-436C-4587-9BD4-B8929C8E5EF2}" type="datetimeFigureOut">
              <a:rPr lang="en-US" smtClean="0"/>
              <a:t>4/27/2026</a:t>
            </a:fld>
            <a:endParaRPr lang="en-US"/>
          </a:p>
        </p:txBody>
      </p:sp>
      <p:sp>
        <p:nvSpPr>
          <p:cNvPr id="5" name="Footer Placeholder 4">
            <a:extLst>
              <a:ext uri="{FF2B5EF4-FFF2-40B4-BE49-F238E27FC236}">
                <a16:creationId xmlns:a16="http://schemas.microsoft.com/office/drawing/2014/main" id="{33B64FB2-53C9-9F28-8116-97AEA65BD3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7ECA9A-391D-0F76-7561-420C3C1B9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2359A-7C06-4C5D-BFBB-00B4D6D71EBB}" type="slidenum">
              <a:rPr lang="en-US" smtClean="0"/>
              <a:t>‹#›</a:t>
            </a:fld>
            <a:endParaRPr lang="en-US"/>
          </a:p>
        </p:txBody>
      </p:sp>
    </p:spTree>
    <p:extLst>
      <p:ext uri="{BB962C8B-B14F-4D97-AF65-F5344CB8AC3E}">
        <p14:creationId xmlns:p14="http://schemas.microsoft.com/office/powerpoint/2010/main" val="3487374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icrodata.gov.in/NADA/index.php/catalog/237"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000">
              <a:schemeClr val="accent6">
                <a:lumMod val="50000"/>
              </a:schemeClr>
            </a:gs>
            <a:gs pos="40000">
              <a:schemeClr val="accent6">
                <a:lumMod val="75000"/>
              </a:schemeClr>
            </a:gs>
            <a:gs pos="74000">
              <a:schemeClr val="accent6">
                <a:lumMod val="75000"/>
              </a:schemeClr>
            </a:gs>
            <a:gs pos="100000">
              <a:schemeClr val="accent6">
                <a:lumMod val="50000"/>
              </a:schemeClr>
            </a:gs>
          </a:gsLst>
          <a:path path="circle">
            <a:fillToRect l="100000" t="100000"/>
          </a:path>
          <a:tileRect/>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204B94-C814-8787-0B67-60FAF62E4FA4}"/>
              </a:ext>
            </a:extLst>
          </p:cNvPr>
          <p:cNvSpPr/>
          <p:nvPr/>
        </p:nvSpPr>
        <p:spPr>
          <a:xfrm>
            <a:off x="1305950" y="2918395"/>
            <a:ext cx="9580099" cy="1105618"/>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Customer Life Time Value In Indian Consumer Markets</a:t>
            </a:r>
          </a:p>
        </p:txBody>
      </p:sp>
      <p:sp>
        <p:nvSpPr>
          <p:cNvPr id="8" name="TextBox 7">
            <a:extLst>
              <a:ext uri="{FF2B5EF4-FFF2-40B4-BE49-F238E27FC236}">
                <a16:creationId xmlns:a16="http://schemas.microsoft.com/office/drawing/2014/main" id="{CF2070BD-63EA-9D2A-8817-9D903782D8C3}"/>
              </a:ext>
            </a:extLst>
          </p:cNvPr>
          <p:cNvSpPr txBox="1"/>
          <p:nvPr/>
        </p:nvSpPr>
        <p:spPr>
          <a:xfrm>
            <a:off x="1958922" y="4790049"/>
            <a:ext cx="8274148" cy="1631216"/>
          </a:xfrm>
          <a:prstGeom prst="rect">
            <a:avLst/>
          </a:prstGeom>
          <a:noFill/>
        </p:spPr>
        <p:txBody>
          <a:bodyPr wrap="square" rtlCol="0">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Adith Naren Kadadi | MBA – AI &amp; DS, Semester 4 | 1RUB24MBA0003</a:t>
            </a:r>
          </a:p>
          <a:p>
            <a:pPr algn="just"/>
            <a:endParaRPr lang="en-US" sz="2000" b="1" dirty="0">
              <a:solidFill>
                <a:schemeClr val="bg1"/>
              </a:solidFill>
              <a:latin typeface="Times New Roman" panose="02020603050405020304" pitchFamily="18" charset="0"/>
              <a:cs typeface="Times New Roman" panose="02020603050405020304" pitchFamily="18" charset="0"/>
            </a:endParaRPr>
          </a:p>
          <a:p>
            <a:pPr algn="ctr"/>
            <a:r>
              <a:rPr lang="en-US" sz="2000" b="1" dirty="0">
                <a:solidFill>
                  <a:schemeClr val="bg1"/>
                </a:solidFill>
                <a:latin typeface="Times New Roman" panose="02020603050405020304" pitchFamily="18" charset="0"/>
                <a:cs typeface="Times New Roman" panose="02020603050405020304" pitchFamily="18" charset="0"/>
              </a:rPr>
              <a:t>Under Guidance Ms. Suma Mn</a:t>
            </a:r>
          </a:p>
          <a:p>
            <a:pPr algn="ctr"/>
            <a:r>
              <a:rPr lang="en-US" sz="2000" b="1" dirty="0">
                <a:solidFill>
                  <a:schemeClr val="bg1"/>
                </a:solidFill>
                <a:latin typeface="Times New Roman" panose="02020603050405020304" pitchFamily="18" charset="0"/>
                <a:cs typeface="Times New Roman" panose="02020603050405020304" pitchFamily="18" charset="0"/>
              </a:rPr>
              <a:t>Associate Professor</a:t>
            </a:r>
          </a:p>
          <a:p>
            <a:pPr algn="just"/>
            <a:endParaRPr lang="en-US" sz="2000"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4A65D791-4B3B-A7DB-D9AE-2F9F4DF693FA}"/>
              </a:ext>
            </a:extLst>
          </p:cNvPr>
          <p:cNvSpPr/>
          <p:nvPr/>
        </p:nvSpPr>
        <p:spPr>
          <a:xfrm>
            <a:off x="3700971" y="342050"/>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Dissertation Project</a:t>
            </a:r>
          </a:p>
        </p:txBody>
      </p:sp>
    </p:spTree>
    <p:extLst>
      <p:ext uri="{BB962C8B-B14F-4D97-AF65-F5344CB8AC3E}">
        <p14:creationId xmlns:p14="http://schemas.microsoft.com/office/powerpoint/2010/main" val="354524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DDD0F8-0265-A0D0-C2E7-E8F5AF4D56AC}"/>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60EBEBA4-4CC6-2BED-8B52-EBECF6CDA8B4}"/>
              </a:ext>
            </a:extLst>
          </p:cNvPr>
          <p:cNvSpPr txBox="1"/>
          <p:nvPr/>
        </p:nvSpPr>
        <p:spPr>
          <a:xfrm>
            <a:off x="276667" y="2138288"/>
            <a:ext cx="5458264" cy="3539430"/>
          </a:xfrm>
          <a:prstGeom prst="rect">
            <a:avLst/>
          </a:prstGeom>
          <a:solidFill>
            <a:schemeClr val="accent6">
              <a:lumMod val="50000"/>
            </a:schemeClr>
          </a:solidFill>
        </p:spPr>
        <p:txBody>
          <a:bodyPr wrap="square" rtlCol="0">
            <a:spAutoFit/>
          </a:bodyPr>
          <a:lstStyle/>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Mass marketing in a fractured market like India is costly and often ineffective; CLTV identifies high-value segments for precision targeting.</a:t>
            </a:r>
          </a:p>
          <a:p>
            <a:pPr marL="285750" indent="-285750">
              <a:buFont typeface="Arial" panose="020B0604020202020204" pitchFamily="34" charset="0"/>
              <a:buChar char="•"/>
            </a:pP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It shifts the perspective from historical transaction tracking to treating customers as future financial assets</a:t>
            </a:r>
          </a:p>
          <a:p>
            <a:pPr marL="285750" indent="-285750">
              <a:buFont typeface="Arial" panose="020B0604020202020204" pitchFamily="34" charset="0"/>
              <a:buChar char="•"/>
            </a:pP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CLTV is a metric that captures the total value a customer brings to a brand throughout their entire lifetime relationship</a:t>
            </a:r>
          </a:p>
          <a:p>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The findings from this research provide businesses with precisely the level of targeting accuracy that will enable them to identify and grow high value customer segments</a:t>
            </a:r>
          </a:p>
          <a:p>
            <a:pPr marL="285750" indent="-285750">
              <a:buFont typeface="Arial" panose="020B0604020202020204" pitchFamily="34" charset="0"/>
              <a:buChar char="•"/>
            </a:pP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bg1"/>
              </a:solidFill>
              <a:latin typeface="Times New Roman" panose="02020603050405020304" pitchFamily="18" charset="0"/>
              <a:cs typeface="Times New Roman" panose="02020603050405020304" pitchFamily="18" charset="0"/>
            </a:endParaRPr>
          </a:p>
          <a:p>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77CF0BD6-FA29-E942-0546-B9B9579043AB}"/>
              </a:ext>
            </a:extLst>
          </p:cNvPr>
          <p:cNvSpPr/>
          <p:nvPr/>
        </p:nvSpPr>
        <p:spPr>
          <a:xfrm>
            <a:off x="1526932" y="1603453"/>
            <a:ext cx="2957733" cy="434018"/>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Business Context</a:t>
            </a:r>
          </a:p>
        </p:txBody>
      </p:sp>
      <p:sp>
        <p:nvSpPr>
          <p:cNvPr id="8" name="TextBox 7">
            <a:extLst>
              <a:ext uri="{FF2B5EF4-FFF2-40B4-BE49-F238E27FC236}">
                <a16:creationId xmlns:a16="http://schemas.microsoft.com/office/drawing/2014/main" id="{3CCC686D-0DED-DB25-9361-C1F9401547FE}"/>
              </a:ext>
            </a:extLst>
          </p:cNvPr>
          <p:cNvSpPr txBox="1"/>
          <p:nvPr/>
        </p:nvSpPr>
        <p:spPr>
          <a:xfrm>
            <a:off x="6248400" y="2138288"/>
            <a:ext cx="5627078" cy="3539430"/>
          </a:xfrm>
          <a:prstGeom prst="rect">
            <a:avLst/>
          </a:prstGeom>
          <a:solidFill>
            <a:schemeClr val="accent6">
              <a:lumMod val="50000"/>
            </a:schemeClr>
          </a:solidFill>
        </p:spPr>
        <p:txBody>
          <a:bodyPr wrap="square" rtlCol="0">
            <a:spAutoFit/>
          </a:bodyPr>
          <a:lstStyle/>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India is shifting from a focus on single, target-shot sales to a strategic compass model that treats households as future financial assets to ensure long-term business sustainability.</a:t>
            </a:r>
            <a:br>
              <a:rPr lang="en-US" sz="1400" b="1" dirty="0">
                <a:solidFill>
                  <a:schemeClr val="bg1"/>
                </a:solidFill>
                <a:latin typeface="Times New Roman" panose="02020603050405020304" pitchFamily="18" charset="0"/>
                <a:cs typeface="Times New Roman" panose="02020603050405020304" pitchFamily="18" charset="0"/>
              </a:rPr>
            </a:b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Retaining an existing customer is five times more cost-effective than winning a new one, making the identification of high-value segments critical for reducing Customer Acquisition Cost (CAC).</a:t>
            </a:r>
            <a:br>
              <a:rPr lang="en-US" sz="1400" b="1" dirty="0">
                <a:solidFill>
                  <a:schemeClr val="bg1"/>
                </a:solidFill>
                <a:latin typeface="Times New Roman" panose="02020603050405020304" pitchFamily="18" charset="0"/>
                <a:cs typeface="Times New Roman" panose="02020603050405020304" pitchFamily="18" charset="0"/>
              </a:rPr>
            </a:b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Businesses often waste resources chasing low-potential segments; this study aims to redirect marketing budgets toward "look-alike" audiences who share high-value characteristics.</a:t>
            </a:r>
            <a:br>
              <a:rPr lang="en-US" sz="1400" b="1" dirty="0">
                <a:solidFill>
                  <a:schemeClr val="bg1"/>
                </a:solidFill>
                <a:latin typeface="Times New Roman" panose="02020603050405020304" pitchFamily="18" charset="0"/>
                <a:cs typeface="Times New Roman" panose="02020603050405020304" pitchFamily="18" charset="0"/>
              </a:rPr>
            </a:b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With over 60% of national consumption originating from metropolitan areas, organizations must precisely understand the socio-economic foundations such as education, digital literacy, and asset ownership that drive future spending.</a:t>
            </a:r>
          </a:p>
        </p:txBody>
      </p:sp>
      <p:sp>
        <p:nvSpPr>
          <p:cNvPr id="9" name="Rectangle 8">
            <a:extLst>
              <a:ext uri="{FF2B5EF4-FFF2-40B4-BE49-F238E27FC236}">
                <a16:creationId xmlns:a16="http://schemas.microsoft.com/office/drawing/2014/main" id="{4454038D-FB2C-0E7B-8462-A37F4BB09E15}"/>
              </a:ext>
            </a:extLst>
          </p:cNvPr>
          <p:cNvSpPr/>
          <p:nvPr/>
        </p:nvSpPr>
        <p:spPr>
          <a:xfrm>
            <a:off x="7583072" y="1603453"/>
            <a:ext cx="2957733" cy="434018"/>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Objective</a:t>
            </a:r>
          </a:p>
        </p:txBody>
      </p:sp>
      <p:sp>
        <p:nvSpPr>
          <p:cNvPr id="10" name="Rectangle 1">
            <a:extLst>
              <a:ext uri="{FF2B5EF4-FFF2-40B4-BE49-F238E27FC236}">
                <a16:creationId xmlns:a16="http://schemas.microsoft.com/office/drawing/2014/main" id="{5885E9F4-C70E-E87D-8E61-B20B4CBBC13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Businesses often waste resources chasing low-potential segments; this study aims to redirect marketing budgets toward "look-alike" audiences who share high-value characteristics.</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861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63A76B-45C6-5DFE-E69F-C69AF5E9DBC5}"/>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D96BE7B8-00C0-1AAC-B5A1-EBEBCAC9A70D}"/>
              </a:ext>
            </a:extLst>
          </p:cNvPr>
          <p:cNvGraphicFramePr>
            <a:graphicFrameLocks noGrp="1"/>
          </p:cNvGraphicFramePr>
          <p:nvPr>
            <p:extLst>
              <p:ext uri="{D42A27DB-BD31-4B8C-83A1-F6EECF244321}">
                <p14:modId xmlns:p14="http://schemas.microsoft.com/office/powerpoint/2010/main" val="3168612074"/>
              </p:ext>
            </p:extLst>
          </p:nvPr>
        </p:nvGraphicFramePr>
        <p:xfrm>
          <a:off x="321213" y="1308295"/>
          <a:ext cx="11549574" cy="5176911"/>
        </p:xfrm>
        <a:graphic>
          <a:graphicData uri="http://schemas.openxmlformats.org/drawingml/2006/table">
            <a:tbl>
              <a:tblPr firstRow="1" bandRow="1">
                <a:tableStyleId>{AF606853-7671-496A-8E4F-DF71F8EC918B}</a:tableStyleId>
              </a:tblPr>
              <a:tblGrid>
                <a:gridCol w="508781">
                  <a:extLst>
                    <a:ext uri="{9D8B030D-6E8A-4147-A177-3AD203B41FA5}">
                      <a16:colId xmlns:a16="http://schemas.microsoft.com/office/drawing/2014/main" val="3753839681"/>
                    </a:ext>
                  </a:extLst>
                </a:gridCol>
                <a:gridCol w="1533378">
                  <a:extLst>
                    <a:ext uri="{9D8B030D-6E8A-4147-A177-3AD203B41FA5}">
                      <a16:colId xmlns:a16="http://schemas.microsoft.com/office/drawing/2014/main" val="819041517"/>
                    </a:ext>
                  </a:extLst>
                </a:gridCol>
                <a:gridCol w="2321170">
                  <a:extLst>
                    <a:ext uri="{9D8B030D-6E8A-4147-A177-3AD203B41FA5}">
                      <a16:colId xmlns:a16="http://schemas.microsoft.com/office/drawing/2014/main" val="2199460031"/>
                    </a:ext>
                  </a:extLst>
                </a:gridCol>
                <a:gridCol w="2180492">
                  <a:extLst>
                    <a:ext uri="{9D8B030D-6E8A-4147-A177-3AD203B41FA5}">
                      <a16:colId xmlns:a16="http://schemas.microsoft.com/office/drawing/2014/main" val="4208771381"/>
                    </a:ext>
                  </a:extLst>
                </a:gridCol>
                <a:gridCol w="2293034">
                  <a:extLst>
                    <a:ext uri="{9D8B030D-6E8A-4147-A177-3AD203B41FA5}">
                      <a16:colId xmlns:a16="http://schemas.microsoft.com/office/drawing/2014/main" val="514870769"/>
                    </a:ext>
                  </a:extLst>
                </a:gridCol>
                <a:gridCol w="2712719">
                  <a:extLst>
                    <a:ext uri="{9D8B030D-6E8A-4147-A177-3AD203B41FA5}">
                      <a16:colId xmlns:a16="http://schemas.microsoft.com/office/drawing/2014/main" val="1848936501"/>
                    </a:ext>
                  </a:extLst>
                </a:gridCol>
              </a:tblGrid>
              <a:tr h="513739">
                <a:tc>
                  <a:txBody>
                    <a:bodyPr/>
                    <a:lstStyle/>
                    <a:p>
                      <a:pPr>
                        <a:buNone/>
                      </a:pPr>
                      <a:r>
                        <a:rPr lang="en-US" sz="1000" b="1" dirty="0">
                          <a:solidFill>
                            <a:schemeClr val="bg1"/>
                          </a:solidFill>
                          <a:effectLst/>
                        </a:rPr>
                        <a:t>Sl. No.</a:t>
                      </a:r>
                      <a:endParaRPr lang="en-US" sz="1000" b="1" dirty="0">
                        <a:solidFill>
                          <a:schemeClr val="bg1"/>
                        </a:solidFill>
                        <a:effectLst/>
                        <a:latin typeface="Times New Roman" panose="02020603050405020304" pitchFamily="18"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000" b="1" dirty="0">
                          <a:solidFill>
                            <a:schemeClr val="bg1"/>
                          </a:solidFill>
                        </a:rPr>
                        <a:t>Research Paper Name</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000" b="1" dirty="0">
                          <a:solidFill>
                            <a:schemeClr val="bg1"/>
                          </a:solidFill>
                        </a:rPr>
                        <a:t> Content</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000" b="1" dirty="0">
                          <a:solidFill>
                            <a:schemeClr val="bg1"/>
                          </a:solidFill>
                        </a:rPr>
                        <a:t>Analysis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000" b="1" dirty="0">
                          <a:solidFill>
                            <a:schemeClr val="bg1"/>
                          </a:solidFill>
                        </a:rPr>
                        <a:t>Research Gap</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000" b="1" dirty="0">
                          <a:solidFill>
                            <a:schemeClr val="bg1"/>
                          </a:solidFill>
                        </a:rPr>
                        <a:t>Dissertation Covered</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extLst>
                  <a:ext uri="{0D108BD9-81ED-4DB2-BD59-A6C34878D82A}">
                    <a16:rowId xmlns:a16="http://schemas.microsoft.com/office/drawing/2014/main" val="1589870153"/>
                  </a:ext>
                </a:extLst>
              </a:tr>
              <a:tr h="711331">
                <a:tc>
                  <a:txBody>
                    <a:bodyPr/>
                    <a:lstStyle/>
                    <a:p>
                      <a:r>
                        <a:rPr lang="en-US" sz="1000" b="1" dirty="0">
                          <a:solidFill>
                            <a:schemeClr val="bg1"/>
                          </a:solidFill>
                        </a:rPr>
                        <a:t>1</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Berger &amp; Nasr (1998)</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Defined CLTV as the present value of all expected profits from a customer over their relationship life cycle</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Argued for a shift from mass marketing to a segmented, customer-driven approach.</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Foundational research is primarily rooted in Western contractual markets (like subscriptions).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Moved beyond contractual definitions to model fragmented and non-contractual Indian retail.</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1110317650"/>
                  </a:ext>
                </a:extLst>
              </a:tr>
              <a:tr h="908924">
                <a:tc>
                  <a:txBody>
                    <a:bodyPr/>
                    <a:lstStyle/>
                    <a:p>
                      <a:r>
                        <a:rPr lang="en-US" sz="1000" b="1" dirty="0">
                          <a:solidFill>
                            <a:schemeClr val="bg1"/>
                          </a:solidFill>
                        </a:rPr>
                        <a:t>2</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Fader, Hardie &amp; Lee (2005)</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Introduced probabilistic models (BG/NBD) to predict future behavior based on purchase frequency and recency.</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Proved that statistically viable "alive" probabilities can be attained with relatively few data points.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Relies on longitudinal transaction data, which breaks down in diverse markets with many socio-economic factors.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dirty="0">
                          <a:solidFill>
                            <a:schemeClr val="bg1"/>
                          </a:solidFill>
                          <a:effectLst/>
                        </a:rPr>
                        <a:t>Transitioned from traditional probabilistic models to cutting-edge machine learning (XGBoost) for segmentation.</a:t>
                      </a:r>
                      <a:endParaRPr lang="en-US" sz="1000" b="1" dirty="0">
                        <a:solidFill>
                          <a:schemeClr val="bg1"/>
                        </a:solidFill>
                      </a:endParaRPr>
                    </a:p>
                    <a:p>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3596159842"/>
                  </a:ext>
                </a:extLst>
              </a:tr>
              <a:tr h="711331">
                <a:tc>
                  <a:txBody>
                    <a:bodyPr/>
                    <a:lstStyle/>
                    <a:p>
                      <a:r>
                        <a:rPr lang="en-US" sz="1000" b="1" dirty="0">
                          <a:solidFill>
                            <a:schemeClr val="bg1"/>
                          </a:solidFill>
                        </a:rPr>
                        <a:t>3</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Benoit &amp; Van den Poel (2009)</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Explored ensemble methods like Random Forest to handle non-linear relationships in consumer attributes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Identified that demographic predictors significantly improve classification accuracy into value tiers.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Models often ignore non-transactional factors like digital literacy and standardized asset-based wealth</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Closed the Feature Integration Gap by adding an "Online Score" and an "Asset Score" as value multipliers.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1793843947"/>
                  </a:ext>
                </a:extLst>
              </a:tr>
              <a:tr h="711331">
                <a:tc>
                  <a:txBody>
                    <a:bodyPr/>
                    <a:lstStyle/>
                    <a:p>
                      <a:r>
                        <a:rPr lang="en-US" sz="1000" b="1" dirty="0">
                          <a:solidFill>
                            <a:schemeClr val="bg1"/>
                          </a:solidFill>
                        </a:rPr>
                        <a:t>4</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Khare(2011)</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Studied how education and geography drive the acceptance of modern retail formats in India</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Found that spending moves from survival services to luxury as consumers climb the economic ladder</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Existing literature focuses on descriptive statistics rather than using drivers for predictive classification</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Used socio-economic drivers to build a predictive framework that classifies households into specific value tiers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1320404929"/>
                  </a:ext>
                </a:extLst>
              </a:tr>
              <a:tr h="711331">
                <a:tc>
                  <a:txBody>
                    <a:bodyPr/>
                    <a:lstStyle/>
                    <a:p>
                      <a:r>
                        <a:rPr lang="en-US" sz="1000" b="1" dirty="0">
                          <a:solidFill>
                            <a:schemeClr val="bg1"/>
                          </a:solidFill>
                        </a:rPr>
                        <a:t>5</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Venkatesan &amp; Kumar(2004)</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Provided a framework for resource allocation based on predicted future value rather than past behavior.</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Showed that firms using predictive CLV models achieve significantly higher returns on investment</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There is an Asset Standardization Gap; it is difficult to find a stable wealth proxy across diverse regional land units.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Created a technical conversion logic to map disparate land units into a standardized "Total Square Footage" aggregate.</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1401824800"/>
                  </a:ext>
                </a:extLst>
              </a:tr>
              <a:tr h="908924">
                <a:tc>
                  <a:txBody>
                    <a:bodyPr/>
                    <a:lstStyle/>
                    <a:p>
                      <a:r>
                        <a:rPr lang="en-US" sz="1000" b="1" dirty="0">
                          <a:solidFill>
                            <a:schemeClr val="bg1"/>
                          </a:solidFill>
                        </a:rPr>
                        <a:t>6</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Modigliani &amp; Brumberg (1954)</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Developed the Life-Cycle Hypothesis, where consumption is smoothed over an individual's lifetime.</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Recognized that a customer's value is constrained by their biological and economic life stages.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dirty="0">
                          <a:solidFill>
                            <a:schemeClr val="bg1"/>
                          </a:solidFill>
                          <a:effectLst/>
                        </a:rPr>
                        <a:t>Most models suffer from the "Infinite Horizon Flaw," assuming linear systems or infinite loyalty.</a:t>
                      </a:r>
                      <a:endParaRPr lang="en-US" sz="1000" b="1" dirty="0">
                        <a:solidFill>
                          <a:schemeClr val="bg1"/>
                        </a:solidFill>
                      </a:endParaRPr>
                    </a:p>
                    <a:p>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1000" b="1" dirty="0">
                          <a:solidFill>
                            <a:schemeClr val="bg1"/>
                          </a:solidFill>
                        </a:rPr>
                        <a:t>Applied the "Remaining Life Concept" using SRS mapping to bound estimates by realistic biological life-cycles</a:t>
                      </a:r>
                      <a:endParaRPr lang="en-US" sz="1000" b="1" dirty="0">
                        <a:solidFill>
                          <a:schemeClr val="bg1"/>
                        </a:solidFill>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2490580241"/>
                  </a:ext>
                </a:extLst>
              </a:tr>
            </a:tbl>
          </a:graphicData>
        </a:graphic>
      </p:graphicFrame>
    </p:spTree>
    <p:extLst>
      <p:ext uri="{BB962C8B-B14F-4D97-AF65-F5344CB8AC3E}">
        <p14:creationId xmlns:p14="http://schemas.microsoft.com/office/powerpoint/2010/main" val="1198889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A6C6F4-F01A-E7CA-A544-8A48547F191D}"/>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Research Methodology</a:t>
            </a:r>
          </a:p>
        </p:txBody>
      </p:sp>
      <p:sp>
        <p:nvSpPr>
          <p:cNvPr id="38" name="Rectangle: Rounded Corners 37">
            <a:extLst>
              <a:ext uri="{FF2B5EF4-FFF2-40B4-BE49-F238E27FC236}">
                <a16:creationId xmlns:a16="http://schemas.microsoft.com/office/drawing/2014/main" id="{79C5AEE3-6AA9-D63E-EF4B-54B268252E43}"/>
              </a:ext>
            </a:extLst>
          </p:cNvPr>
          <p:cNvSpPr/>
          <p:nvPr/>
        </p:nvSpPr>
        <p:spPr>
          <a:xfrm>
            <a:off x="492367" y="1186767"/>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Research Design</a:t>
            </a:r>
          </a:p>
        </p:txBody>
      </p:sp>
      <p:sp>
        <p:nvSpPr>
          <p:cNvPr id="39" name="Rectangle: Rounded Corners 38">
            <a:extLst>
              <a:ext uri="{FF2B5EF4-FFF2-40B4-BE49-F238E27FC236}">
                <a16:creationId xmlns:a16="http://schemas.microsoft.com/office/drawing/2014/main" id="{3E1A7709-10CE-E52E-4985-424BB2AD3F17}"/>
              </a:ext>
            </a:extLst>
          </p:cNvPr>
          <p:cNvSpPr/>
          <p:nvPr/>
        </p:nvSpPr>
        <p:spPr>
          <a:xfrm>
            <a:off x="492366" y="2367429"/>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Source</a:t>
            </a:r>
          </a:p>
        </p:txBody>
      </p:sp>
      <p:sp>
        <p:nvSpPr>
          <p:cNvPr id="40" name="Rectangle: Rounded Corners 39">
            <a:extLst>
              <a:ext uri="{FF2B5EF4-FFF2-40B4-BE49-F238E27FC236}">
                <a16:creationId xmlns:a16="http://schemas.microsoft.com/office/drawing/2014/main" id="{C04EE61F-2A72-4B76-8917-CF58D79C687F}"/>
              </a:ext>
            </a:extLst>
          </p:cNvPr>
          <p:cNvSpPr/>
          <p:nvPr/>
        </p:nvSpPr>
        <p:spPr>
          <a:xfrm>
            <a:off x="492365" y="3548091"/>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Synthesis</a:t>
            </a:r>
          </a:p>
        </p:txBody>
      </p:sp>
      <p:sp>
        <p:nvSpPr>
          <p:cNvPr id="41" name="Rectangle: Rounded Corners 40">
            <a:extLst>
              <a:ext uri="{FF2B5EF4-FFF2-40B4-BE49-F238E27FC236}">
                <a16:creationId xmlns:a16="http://schemas.microsoft.com/office/drawing/2014/main" id="{8375D1A4-3DDC-CA75-D308-F3B150A9AD20}"/>
              </a:ext>
            </a:extLst>
          </p:cNvPr>
          <p:cNvSpPr/>
          <p:nvPr/>
        </p:nvSpPr>
        <p:spPr>
          <a:xfrm>
            <a:off x="492367" y="4728753"/>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EDA</a:t>
            </a:r>
          </a:p>
        </p:txBody>
      </p:sp>
      <p:sp>
        <p:nvSpPr>
          <p:cNvPr id="42" name="Rectangle: Rounded Corners 41">
            <a:extLst>
              <a:ext uri="{FF2B5EF4-FFF2-40B4-BE49-F238E27FC236}">
                <a16:creationId xmlns:a16="http://schemas.microsoft.com/office/drawing/2014/main" id="{DD820950-D396-E3B1-221C-EB47DF58F140}"/>
              </a:ext>
            </a:extLst>
          </p:cNvPr>
          <p:cNvSpPr/>
          <p:nvPr/>
        </p:nvSpPr>
        <p:spPr>
          <a:xfrm>
            <a:off x="2951868" y="1127889"/>
            <a:ext cx="7978729" cy="94514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Times New Roman" panose="02020603050405020304" pitchFamily="18" charset="0"/>
                <a:cs typeface="Times New Roman" panose="02020603050405020304" pitchFamily="18" charset="0"/>
              </a:rPr>
              <a:t>a quantitative, descriptive approach using secondary data to analyze consumption patterns across the entire Indian consumer market.</a:t>
            </a:r>
          </a:p>
        </p:txBody>
      </p:sp>
      <p:sp>
        <p:nvSpPr>
          <p:cNvPr id="43" name="Rectangle: Rounded Corners 42">
            <a:extLst>
              <a:ext uri="{FF2B5EF4-FFF2-40B4-BE49-F238E27FC236}">
                <a16:creationId xmlns:a16="http://schemas.microsoft.com/office/drawing/2014/main" id="{83B3C423-02C5-0DF5-0F71-ED029D40C322}"/>
              </a:ext>
            </a:extLst>
          </p:cNvPr>
          <p:cNvSpPr/>
          <p:nvPr/>
        </p:nvSpPr>
        <p:spPr>
          <a:xfrm>
            <a:off x="2951868" y="2276164"/>
            <a:ext cx="7978729" cy="94514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Times New Roman" panose="02020603050405020304" pitchFamily="18" charset="0"/>
                <a:cs typeface="Times New Roman" panose="02020603050405020304" pitchFamily="18" charset="0"/>
              </a:rPr>
              <a:t>the Household Consumer Expenditure Survey (HCES) from the Ministry of Statistics and Program Implementation (MOSPI), covering diverse demographics across India.</a:t>
            </a:r>
          </a:p>
          <a:p>
            <a:r>
              <a:rPr lang="en-US" sz="1400" b="1" dirty="0">
                <a:solidFill>
                  <a:srgbClr val="00B0F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https://microdata.gov.in/NADA/index.php/catalog/237</a:t>
            </a:r>
            <a:r>
              <a:rPr lang="en-US" sz="1400" b="1" dirty="0">
                <a:solidFill>
                  <a:srgbClr val="00B0F0"/>
                </a:solidFill>
                <a:latin typeface="Times New Roman" panose="02020603050405020304" pitchFamily="18" charset="0"/>
                <a:cs typeface="Times New Roman" panose="02020603050405020304" pitchFamily="18" charset="0"/>
              </a:rPr>
              <a:t> </a:t>
            </a:r>
          </a:p>
        </p:txBody>
      </p:sp>
      <p:sp>
        <p:nvSpPr>
          <p:cNvPr id="44" name="Rectangle: Rounded Corners 43">
            <a:extLst>
              <a:ext uri="{FF2B5EF4-FFF2-40B4-BE49-F238E27FC236}">
                <a16:creationId xmlns:a16="http://schemas.microsoft.com/office/drawing/2014/main" id="{28F0DB4B-E36E-F307-1B04-50E11025B7EE}"/>
              </a:ext>
            </a:extLst>
          </p:cNvPr>
          <p:cNvSpPr/>
          <p:nvPr/>
        </p:nvSpPr>
        <p:spPr>
          <a:xfrm>
            <a:off x="2951867" y="3424439"/>
            <a:ext cx="7978729" cy="94514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Times New Roman" panose="02020603050405020304" pitchFamily="18" charset="0"/>
                <a:cs typeface="Times New Roman" panose="02020603050405020304" pitchFamily="18" charset="0"/>
              </a:rPr>
              <a:t>Involves merging high-dimensional datasets into a single master file, followed by rigorous data cleaning, outlier treatment, and normalization and by converting various measurements and extracting metrics.</a:t>
            </a:r>
          </a:p>
        </p:txBody>
      </p:sp>
      <p:sp>
        <p:nvSpPr>
          <p:cNvPr id="46" name="Rectangle: Rounded Corners 45">
            <a:extLst>
              <a:ext uri="{FF2B5EF4-FFF2-40B4-BE49-F238E27FC236}">
                <a16:creationId xmlns:a16="http://schemas.microsoft.com/office/drawing/2014/main" id="{4AC49C79-0363-A1C6-048C-57ECCAA2E1CE}"/>
              </a:ext>
            </a:extLst>
          </p:cNvPr>
          <p:cNvSpPr/>
          <p:nvPr/>
        </p:nvSpPr>
        <p:spPr>
          <a:xfrm>
            <a:off x="2951867" y="4572714"/>
            <a:ext cx="7978729" cy="94514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Times New Roman" panose="02020603050405020304" pitchFamily="18" charset="0"/>
                <a:cs typeface="Times New Roman" panose="02020603050405020304" pitchFamily="18" charset="0"/>
              </a:rPr>
              <a:t>Using heatmaps, distribution plots, and cross-tabulations to identify patterns based on region, sector, education, and gender.</a:t>
            </a:r>
          </a:p>
        </p:txBody>
      </p:sp>
      <p:sp>
        <p:nvSpPr>
          <p:cNvPr id="47" name="Rectangle: Rounded Corners 46">
            <a:extLst>
              <a:ext uri="{FF2B5EF4-FFF2-40B4-BE49-F238E27FC236}">
                <a16:creationId xmlns:a16="http://schemas.microsoft.com/office/drawing/2014/main" id="{8FD24048-C74F-244D-2AAF-83CBAC24C8AE}"/>
              </a:ext>
            </a:extLst>
          </p:cNvPr>
          <p:cNvSpPr/>
          <p:nvPr/>
        </p:nvSpPr>
        <p:spPr>
          <a:xfrm>
            <a:off x="492365" y="5909414"/>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Segmentation &amp; Model Building</a:t>
            </a:r>
          </a:p>
        </p:txBody>
      </p:sp>
      <p:sp>
        <p:nvSpPr>
          <p:cNvPr id="48" name="Rectangle: Rounded Corners 47">
            <a:extLst>
              <a:ext uri="{FF2B5EF4-FFF2-40B4-BE49-F238E27FC236}">
                <a16:creationId xmlns:a16="http://schemas.microsoft.com/office/drawing/2014/main" id="{CE08A242-EB7C-5B96-5FD2-497775C02211}"/>
              </a:ext>
            </a:extLst>
          </p:cNvPr>
          <p:cNvSpPr/>
          <p:nvPr/>
        </p:nvSpPr>
        <p:spPr>
          <a:xfrm>
            <a:off x="2951866" y="5720991"/>
            <a:ext cx="7978729" cy="94514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Times New Roman" panose="02020603050405020304" pitchFamily="18" charset="0"/>
                <a:cs typeface="Times New Roman" panose="02020603050405020304" pitchFamily="18" charset="0"/>
              </a:rPr>
              <a:t>Using PCA for feature redundancy implemented K-Means Clustering  and deployed the XGBoost algorithm to build a predictive model, achieving a classification accuracy of 70% in assigning households to CLTV segments with validation techniques like confusion matrix and classification report</a:t>
            </a:r>
          </a:p>
        </p:txBody>
      </p:sp>
    </p:spTree>
    <p:extLst>
      <p:ext uri="{BB962C8B-B14F-4D97-AF65-F5344CB8AC3E}">
        <p14:creationId xmlns:p14="http://schemas.microsoft.com/office/powerpoint/2010/main" val="134280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FFF291-13C1-B00D-0B77-17CAD1F601F4}"/>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Data Analysis</a:t>
            </a:r>
          </a:p>
        </p:txBody>
      </p:sp>
      <p:sp>
        <p:nvSpPr>
          <p:cNvPr id="5" name="Rectangle: Rounded Corners 4">
            <a:extLst>
              <a:ext uri="{FF2B5EF4-FFF2-40B4-BE49-F238E27FC236}">
                <a16:creationId xmlns:a16="http://schemas.microsoft.com/office/drawing/2014/main" id="{B0F91D97-F7E7-9C6E-77F5-2FCECE5D703C}"/>
              </a:ext>
            </a:extLst>
          </p:cNvPr>
          <p:cNvSpPr/>
          <p:nvPr/>
        </p:nvSpPr>
        <p:spPr>
          <a:xfrm>
            <a:off x="321212" y="1003365"/>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Regional Analysis</a:t>
            </a:r>
          </a:p>
        </p:txBody>
      </p:sp>
      <p:pic>
        <p:nvPicPr>
          <p:cNvPr id="6" name="Picture 5">
            <a:extLst>
              <a:ext uri="{FF2B5EF4-FFF2-40B4-BE49-F238E27FC236}">
                <a16:creationId xmlns:a16="http://schemas.microsoft.com/office/drawing/2014/main" id="{D8F7839F-8518-2E7E-4EF4-115095567D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726" y="1916673"/>
            <a:ext cx="5774789" cy="1992322"/>
          </a:xfrm>
          <a:prstGeom prst="rect">
            <a:avLst/>
          </a:prstGeom>
        </p:spPr>
      </p:pic>
      <p:pic>
        <p:nvPicPr>
          <p:cNvPr id="8" name="Picture 7">
            <a:extLst>
              <a:ext uri="{FF2B5EF4-FFF2-40B4-BE49-F238E27FC236}">
                <a16:creationId xmlns:a16="http://schemas.microsoft.com/office/drawing/2014/main" id="{8BBD7A2B-8B66-04E8-93E1-CA62280946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726" y="4053527"/>
            <a:ext cx="4757226" cy="2694848"/>
          </a:xfrm>
          <a:prstGeom prst="rect">
            <a:avLst/>
          </a:prstGeom>
        </p:spPr>
      </p:pic>
      <p:pic>
        <p:nvPicPr>
          <p:cNvPr id="10" name="Picture 9">
            <a:extLst>
              <a:ext uri="{FF2B5EF4-FFF2-40B4-BE49-F238E27FC236}">
                <a16:creationId xmlns:a16="http://schemas.microsoft.com/office/drawing/2014/main" id="{B61D568E-3DDC-45F5-A4CC-DC63EA96E8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7487" y="1916673"/>
            <a:ext cx="5570901" cy="1992321"/>
          </a:xfrm>
          <a:prstGeom prst="rect">
            <a:avLst/>
          </a:prstGeom>
        </p:spPr>
      </p:pic>
      <p:sp>
        <p:nvSpPr>
          <p:cNvPr id="11" name="TextBox 10">
            <a:extLst>
              <a:ext uri="{FF2B5EF4-FFF2-40B4-BE49-F238E27FC236}">
                <a16:creationId xmlns:a16="http://schemas.microsoft.com/office/drawing/2014/main" id="{33B12CD3-0CB5-8027-2C8B-8209CD2F8ACC}"/>
              </a:ext>
            </a:extLst>
          </p:cNvPr>
          <p:cNvSpPr txBox="1"/>
          <p:nvPr/>
        </p:nvSpPr>
        <p:spPr>
          <a:xfrm>
            <a:off x="5190978" y="4178105"/>
            <a:ext cx="6893170" cy="2462213"/>
          </a:xfrm>
          <a:prstGeom prst="rect">
            <a:avLst/>
          </a:prstGeom>
          <a:noFill/>
          <a:ln w="28575">
            <a:solidFill>
              <a:schemeClr val="tx1"/>
            </a:solidFill>
          </a:ln>
        </p:spPr>
        <p:txBody>
          <a:bodyPr wrap="square" rtlCol="0">
            <a:spAutoFit/>
          </a:bodyPr>
          <a:lstStyle/>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South for high individual spending and the North for large family purchases. These regions offer the best long-term value because customers spend more frequently on premium services and goods.</a:t>
            </a:r>
          </a:p>
          <a:p>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East and West have lower individual spending but a massive total market size. </a:t>
            </a:r>
          </a:p>
          <a:p>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Smaller households in the South spend more per person, while large families in the North buy more durables.</a:t>
            </a:r>
          </a:p>
          <a:p>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Most regions spend heavily on Miscellaneous  and  Services, showing a shift toward lifestyle and comfort</a:t>
            </a:r>
          </a:p>
        </p:txBody>
      </p:sp>
    </p:spTree>
    <p:extLst>
      <p:ext uri="{BB962C8B-B14F-4D97-AF65-F5344CB8AC3E}">
        <p14:creationId xmlns:p14="http://schemas.microsoft.com/office/powerpoint/2010/main" val="765452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37F7EC-F5D4-0631-3125-BD46985D6B8D}"/>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Data Analysis</a:t>
            </a:r>
          </a:p>
        </p:txBody>
      </p:sp>
      <p:sp>
        <p:nvSpPr>
          <p:cNvPr id="5" name="Rectangle: Rounded Corners 4">
            <a:extLst>
              <a:ext uri="{FF2B5EF4-FFF2-40B4-BE49-F238E27FC236}">
                <a16:creationId xmlns:a16="http://schemas.microsoft.com/office/drawing/2014/main" id="{B9BF01EA-7D04-B303-D2F2-45BCAD020577}"/>
              </a:ext>
            </a:extLst>
          </p:cNvPr>
          <p:cNvSpPr/>
          <p:nvPr/>
        </p:nvSpPr>
        <p:spPr>
          <a:xfrm>
            <a:off x="321212" y="876755"/>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Demographic Analysis</a:t>
            </a:r>
          </a:p>
        </p:txBody>
      </p:sp>
      <p:pic>
        <p:nvPicPr>
          <p:cNvPr id="6" name="Picture 5">
            <a:extLst>
              <a:ext uri="{FF2B5EF4-FFF2-40B4-BE49-F238E27FC236}">
                <a16:creationId xmlns:a16="http://schemas.microsoft.com/office/drawing/2014/main" id="{4A4C43F6-EA6F-D666-3885-DD8B4F8565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285" y="1658526"/>
            <a:ext cx="5731510" cy="5007610"/>
          </a:xfrm>
          <a:prstGeom prst="rect">
            <a:avLst/>
          </a:prstGeom>
        </p:spPr>
      </p:pic>
      <p:pic>
        <p:nvPicPr>
          <p:cNvPr id="7" name="Picture 6">
            <a:extLst>
              <a:ext uri="{FF2B5EF4-FFF2-40B4-BE49-F238E27FC236}">
                <a16:creationId xmlns:a16="http://schemas.microsoft.com/office/drawing/2014/main" id="{D93ABC9C-27AE-A731-454C-62C17656B5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658527"/>
            <a:ext cx="5731510" cy="2462214"/>
          </a:xfrm>
          <a:prstGeom prst="rect">
            <a:avLst/>
          </a:prstGeom>
        </p:spPr>
      </p:pic>
      <p:sp>
        <p:nvSpPr>
          <p:cNvPr id="8" name="TextBox 7">
            <a:extLst>
              <a:ext uri="{FF2B5EF4-FFF2-40B4-BE49-F238E27FC236}">
                <a16:creationId xmlns:a16="http://schemas.microsoft.com/office/drawing/2014/main" id="{0D4F3354-BF16-39D5-C7CC-B8A40EECA81F}"/>
              </a:ext>
            </a:extLst>
          </p:cNvPr>
          <p:cNvSpPr txBox="1"/>
          <p:nvPr/>
        </p:nvSpPr>
        <p:spPr>
          <a:xfrm>
            <a:off x="5992836" y="4203923"/>
            <a:ext cx="5834674" cy="2462213"/>
          </a:xfrm>
          <a:prstGeom prst="rect">
            <a:avLst/>
          </a:prstGeom>
          <a:noFill/>
          <a:ln w="28575">
            <a:solidFill>
              <a:schemeClr val="tx1"/>
            </a:solidFill>
          </a:ln>
        </p:spPr>
        <p:txBody>
          <a:bodyPr wrap="square" rtlCol="0">
            <a:spAutoFit/>
          </a:bodyPr>
          <a:lstStyle>
            <a:defPPr>
              <a:defRPr lang="en-US"/>
            </a:defPPr>
            <a:lvl1pPr marL="285750" indent="-285750">
              <a:buFont typeface="Arial" panose="020B0604020202020204" pitchFamily="34" charset="0"/>
              <a:buChar char="•"/>
              <a:defRPr sz="1400" b="1">
                <a:solidFill>
                  <a:schemeClr val="bg1"/>
                </a:solidFill>
                <a:latin typeface="Times New Roman" panose="02020603050405020304" pitchFamily="18" charset="0"/>
                <a:cs typeface="Times New Roman" panose="02020603050405020304" pitchFamily="18" charset="0"/>
              </a:defRPr>
            </a:lvl1pPr>
          </a:lstStyle>
          <a:p>
            <a:r>
              <a:rPr lang="en-US" dirty="0"/>
              <a:t>It is very evidently visible higher the education higher the basket value and MPCE this indicates that education is the primary driver for high clv.</a:t>
            </a:r>
          </a:p>
          <a:p>
            <a:r>
              <a:rPr lang="en-US" dirty="0"/>
              <a:t>Graduates and those with higher secondary education show a strong, steady basket value of over 35,000 INR</a:t>
            </a:r>
          </a:p>
          <a:p>
            <a:r>
              <a:rPr lang="en-US" dirty="0"/>
              <a:t>one-time purchases (like appliances) should focus on the male segment, while lifestyle and frequent-use services should target the LGBTQ+ and female segments to capture their higher per-capita spending.</a:t>
            </a:r>
          </a:p>
          <a:p>
            <a:r>
              <a:rPr lang="en-US" dirty="0"/>
              <a:t>Since the Female Market is the most stable it indicates most households are female led purchases</a:t>
            </a:r>
          </a:p>
        </p:txBody>
      </p:sp>
    </p:spTree>
    <p:extLst>
      <p:ext uri="{BB962C8B-B14F-4D97-AF65-F5344CB8AC3E}">
        <p14:creationId xmlns:p14="http://schemas.microsoft.com/office/powerpoint/2010/main" val="1667960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0B26C-AE4F-CE2E-5980-37A4C9C58DF8}"/>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Data Analysis</a:t>
            </a:r>
          </a:p>
        </p:txBody>
      </p:sp>
      <p:sp>
        <p:nvSpPr>
          <p:cNvPr id="5" name="Rectangle: Rounded Corners 4">
            <a:extLst>
              <a:ext uri="{FF2B5EF4-FFF2-40B4-BE49-F238E27FC236}">
                <a16:creationId xmlns:a16="http://schemas.microsoft.com/office/drawing/2014/main" id="{36A72A35-41A8-A326-B075-9EBC62E65B87}"/>
              </a:ext>
            </a:extLst>
          </p:cNvPr>
          <p:cNvSpPr/>
          <p:nvPr/>
        </p:nvSpPr>
        <p:spPr>
          <a:xfrm>
            <a:off x="321212" y="876755"/>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Digital Analysis</a:t>
            </a:r>
          </a:p>
        </p:txBody>
      </p:sp>
      <p:pic>
        <p:nvPicPr>
          <p:cNvPr id="6" name="Picture 5">
            <a:extLst>
              <a:ext uri="{FF2B5EF4-FFF2-40B4-BE49-F238E27FC236}">
                <a16:creationId xmlns:a16="http://schemas.microsoft.com/office/drawing/2014/main" id="{8FBE3ED5-FDEA-C024-39DE-257AE4B575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264" y="1650682"/>
            <a:ext cx="7745486" cy="4806389"/>
          </a:xfrm>
          <a:prstGeom prst="rect">
            <a:avLst/>
          </a:prstGeom>
        </p:spPr>
      </p:pic>
      <p:sp>
        <p:nvSpPr>
          <p:cNvPr id="7" name="TextBox 6">
            <a:extLst>
              <a:ext uri="{FF2B5EF4-FFF2-40B4-BE49-F238E27FC236}">
                <a16:creationId xmlns:a16="http://schemas.microsoft.com/office/drawing/2014/main" id="{DE36BE67-23D5-EB44-5A73-3EB09D673C1A}"/>
              </a:ext>
            </a:extLst>
          </p:cNvPr>
          <p:cNvSpPr txBox="1"/>
          <p:nvPr/>
        </p:nvSpPr>
        <p:spPr>
          <a:xfrm>
            <a:off x="8018584" y="2072712"/>
            <a:ext cx="4049152" cy="3970318"/>
          </a:xfrm>
          <a:prstGeom prst="rect">
            <a:avLst/>
          </a:prstGeom>
          <a:noFill/>
          <a:ln w="28575">
            <a:solidFill>
              <a:schemeClr val="tx1"/>
            </a:solidFill>
          </a:ln>
        </p:spPr>
        <p:txBody>
          <a:bodyPr wrap="square" rtlCol="0">
            <a:spAutoFit/>
          </a:bodyPr>
          <a:lstStyle>
            <a:defPPr>
              <a:defRPr lang="en-US"/>
            </a:defPPr>
            <a:lvl1pPr marL="285750" indent="-285750">
              <a:buFont typeface="Arial" panose="020B0604020202020204" pitchFamily="34" charset="0"/>
              <a:buChar char="•"/>
              <a:defRPr sz="1400" b="1">
                <a:solidFill>
                  <a:schemeClr val="bg1"/>
                </a:solidFill>
                <a:latin typeface="Times New Roman" panose="02020603050405020304" pitchFamily="18" charset="0"/>
                <a:cs typeface="Times New Roman" panose="02020603050405020304" pitchFamily="18" charset="0"/>
              </a:defRPr>
            </a:lvl1pPr>
          </a:lstStyle>
          <a:p>
            <a:pPr lvl="0"/>
            <a:r>
              <a:rPr lang="en-US" dirty="0"/>
              <a:t>the graph describes even with low asset score if the households are digitally equipped the expenditure on the asset score has more impact leading to increase in purchases.</a:t>
            </a:r>
          </a:p>
          <a:p>
            <a:pPr marL="0" lvl="0" indent="0">
              <a:buNone/>
            </a:pPr>
            <a:endParaRPr lang="en-US" dirty="0"/>
          </a:p>
          <a:p>
            <a:pPr lvl="0"/>
            <a:r>
              <a:rPr lang="en-US" dirty="0"/>
              <a:t>we also observe households with an online score between 2-4 have higher expenditure and are most valuable customers.</a:t>
            </a:r>
          </a:p>
          <a:p>
            <a:pPr marL="0" lvl="0" indent="0">
              <a:buNone/>
            </a:pPr>
            <a:endParaRPr lang="en-US" dirty="0"/>
          </a:p>
          <a:p>
            <a:r>
              <a:rPr lang="en-US" dirty="0"/>
              <a:t>we also observe households with an online score between 2-4 have higher expenditure and are most valuable customers.</a:t>
            </a:r>
          </a:p>
          <a:p>
            <a:endParaRPr lang="en-US" dirty="0"/>
          </a:p>
          <a:p>
            <a:r>
              <a:rPr lang="en-US" dirty="0"/>
              <a:t>Businesses  should focus marketing budgets on users with an Online Score of 4 or 5. They provide the best Customer Lifetime Value </a:t>
            </a:r>
          </a:p>
          <a:p>
            <a:endParaRPr lang="en-US" dirty="0"/>
          </a:p>
          <a:p>
            <a:endParaRPr lang="en-US" dirty="0"/>
          </a:p>
        </p:txBody>
      </p:sp>
    </p:spTree>
    <p:extLst>
      <p:ext uri="{BB962C8B-B14F-4D97-AF65-F5344CB8AC3E}">
        <p14:creationId xmlns:p14="http://schemas.microsoft.com/office/powerpoint/2010/main" val="4200601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51236E-C972-E076-AB51-E099A78E401C}"/>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Data Analysis</a:t>
            </a:r>
          </a:p>
        </p:txBody>
      </p:sp>
      <p:sp>
        <p:nvSpPr>
          <p:cNvPr id="5" name="Rectangle: Rounded Corners 4">
            <a:extLst>
              <a:ext uri="{FF2B5EF4-FFF2-40B4-BE49-F238E27FC236}">
                <a16:creationId xmlns:a16="http://schemas.microsoft.com/office/drawing/2014/main" id="{D4C30D1E-3B81-4BA0-8B5D-A55794287CB3}"/>
              </a:ext>
            </a:extLst>
          </p:cNvPr>
          <p:cNvSpPr/>
          <p:nvPr/>
        </p:nvSpPr>
        <p:spPr>
          <a:xfrm>
            <a:off x="321212" y="645158"/>
            <a:ext cx="2067951" cy="576777"/>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Cluster Analysis</a:t>
            </a:r>
          </a:p>
        </p:txBody>
      </p:sp>
      <p:pic>
        <p:nvPicPr>
          <p:cNvPr id="7" name="Picture 6">
            <a:extLst>
              <a:ext uri="{FF2B5EF4-FFF2-40B4-BE49-F238E27FC236}">
                <a16:creationId xmlns:a16="http://schemas.microsoft.com/office/drawing/2014/main" id="{EAB1528F-0844-FBC6-1860-DF4B4FB9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212" y="1278728"/>
            <a:ext cx="2618936" cy="1978498"/>
          </a:xfrm>
          <a:prstGeom prst="rect">
            <a:avLst/>
          </a:prstGeom>
        </p:spPr>
      </p:pic>
      <p:graphicFrame>
        <p:nvGraphicFramePr>
          <p:cNvPr id="9" name="Table 8">
            <a:extLst>
              <a:ext uri="{FF2B5EF4-FFF2-40B4-BE49-F238E27FC236}">
                <a16:creationId xmlns:a16="http://schemas.microsoft.com/office/drawing/2014/main" id="{FC66F2D2-223E-0B34-F712-EED6B2A7FF77}"/>
              </a:ext>
            </a:extLst>
          </p:cNvPr>
          <p:cNvGraphicFramePr>
            <a:graphicFrameLocks noGrp="1"/>
          </p:cNvGraphicFramePr>
          <p:nvPr>
            <p:extLst>
              <p:ext uri="{D42A27DB-BD31-4B8C-83A1-F6EECF244321}">
                <p14:modId xmlns:p14="http://schemas.microsoft.com/office/powerpoint/2010/main" val="3438728098"/>
              </p:ext>
            </p:extLst>
          </p:nvPr>
        </p:nvGraphicFramePr>
        <p:xfrm>
          <a:off x="321211" y="3495948"/>
          <a:ext cx="11509716" cy="3170188"/>
        </p:xfrm>
        <a:graphic>
          <a:graphicData uri="http://schemas.openxmlformats.org/drawingml/2006/table">
            <a:tbl>
              <a:tblPr firstRow="1" firstCol="1" bandRow="1">
                <a:tableStyleId>{5C22544A-7EE6-4342-B048-85BDC9FD1C3A}</a:tableStyleId>
              </a:tblPr>
              <a:tblGrid>
                <a:gridCol w="1075008">
                  <a:extLst>
                    <a:ext uri="{9D8B030D-6E8A-4147-A177-3AD203B41FA5}">
                      <a16:colId xmlns:a16="http://schemas.microsoft.com/office/drawing/2014/main" val="1799453166"/>
                    </a:ext>
                  </a:extLst>
                </a:gridCol>
                <a:gridCol w="994439">
                  <a:extLst>
                    <a:ext uri="{9D8B030D-6E8A-4147-A177-3AD203B41FA5}">
                      <a16:colId xmlns:a16="http://schemas.microsoft.com/office/drawing/2014/main" val="3253890466"/>
                    </a:ext>
                  </a:extLst>
                </a:gridCol>
                <a:gridCol w="1355845">
                  <a:extLst>
                    <a:ext uri="{9D8B030D-6E8A-4147-A177-3AD203B41FA5}">
                      <a16:colId xmlns:a16="http://schemas.microsoft.com/office/drawing/2014/main" val="4054906041"/>
                    </a:ext>
                  </a:extLst>
                </a:gridCol>
                <a:gridCol w="1622870">
                  <a:extLst>
                    <a:ext uri="{9D8B030D-6E8A-4147-A177-3AD203B41FA5}">
                      <a16:colId xmlns:a16="http://schemas.microsoft.com/office/drawing/2014/main" val="2229536473"/>
                    </a:ext>
                  </a:extLst>
                </a:gridCol>
                <a:gridCol w="1553811">
                  <a:extLst>
                    <a:ext uri="{9D8B030D-6E8A-4147-A177-3AD203B41FA5}">
                      <a16:colId xmlns:a16="http://schemas.microsoft.com/office/drawing/2014/main" val="3570345187"/>
                    </a:ext>
                  </a:extLst>
                </a:gridCol>
                <a:gridCol w="2331869">
                  <a:extLst>
                    <a:ext uri="{9D8B030D-6E8A-4147-A177-3AD203B41FA5}">
                      <a16:colId xmlns:a16="http://schemas.microsoft.com/office/drawing/2014/main" val="3450460327"/>
                    </a:ext>
                  </a:extLst>
                </a:gridCol>
                <a:gridCol w="1533094">
                  <a:extLst>
                    <a:ext uri="{9D8B030D-6E8A-4147-A177-3AD203B41FA5}">
                      <a16:colId xmlns:a16="http://schemas.microsoft.com/office/drawing/2014/main" val="2875268065"/>
                    </a:ext>
                  </a:extLst>
                </a:gridCol>
                <a:gridCol w="1042780">
                  <a:extLst>
                    <a:ext uri="{9D8B030D-6E8A-4147-A177-3AD203B41FA5}">
                      <a16:colId xmlns:a16="http://schemas.microsoft.com/office/drawing/2014/main" val="3260868751"/>
                    </a:ext>
                  </a:extLst>
                </a:gridCol>
              </a:tblGrid>
              <a:tr h="0">
                <a:tc>
                  <a:txBody>
                    <a:bodyPr/>
                    <a:lstStyle/>
                    <a:p>
                      <a:pPr marL="0" marR="0" algn="l">
                        <a:lnSpc>
                          <a:spcPct val="115000"/>
                        </a:lnSpc>
                        <a:spcAft>
                          <a:spcPts val="1000"/>
                        </a:spcAft>
                        <a:buNone/>
                      </a:pPr>
                      <a:r>
                        <a:rPr lang="en-US" sz="1200" kern="100">
                          <a:effectLst/>
                        </a:rPr>
                        <a:t>Clusters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hh_size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head_age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total_basket_value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mpce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expected_remaining_years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CLTV</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tc>
                  <a:txBody>
                    <a:bodyPr/>
                    <a:lstStyle/>
                    <a:p>
                      <a:pPr marL="0" marR="0" algn="l">
                        <a:lnSpc>
                          <a:spcPct val="115000"/>
                        </a:lnSpc>
                        <a:spcAft>
                          <a:spcPts val="1000"/>
                        </a:spcAft>
                        <a:buNone/>
                      </a:pPr>
                      <a:r>
                        <a:rPr lang="en-US" sz="1200" kern="100">
                          <a:effectLst/>
                        </a:rPr>
                        <a:t>CLTV</a:t>
                      </a:r>
                    </a:p>
                    <a:p>
                      <a:pPr marL="0" marR="0" algn="l">
                        <a:lnSpc>
                          <a:spcPct val="115000"/>
                        </a:lnSpc>
                        <a:spcAft>
                          <a:spcPts val="1000"/>
                        </a:spcAft>
                        <a:buNone/>
                      </a:pPr>
                      <a:r>
                        <a:rPr lang="en-US" sz="1200" kern="100">
                          <a:effectLst/>
                        </a:rPr>
                        <a:t>Type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62459" marB="62459" anchor="ctr"/>
                </a:tc>
                <a:extLst>
                  <a:ext uri="{0D108BD9-81ED-4DB2-BD59-A6C34878D82A}">
                    <a16:rowId xmlns:a16="http://schemas.microsoft.com/office/drawing/2014/main" val="136091445"/>
                  </a:ext>
                </a:extLst>
              </a:tr>
              <a:tr h="228912">
                <a:tc>
                  <a:txBody>
                    <a:bodyPr/>
                    <a:lstStyle/>
                    <a:p>
                      <a:pPr marL="0" marR="0" algn="l">
                        <a:lnSpc>
                          <a:spcPct val="115000"/>
                        </a:lnSpc>
                        <a:spcAft>
                          <a:spcPts val="1000"/>
                        </a:spcAft>
                        <a:buNone/>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1.730248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28.174379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24039.728909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33551.380573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46.400327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3.964224e+06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High Value Asset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extLst>
                  <a:ext uri="{0D108BD9-81ED-4DB2-BD59-A6C34878D82A}">
                    <a16:rowId xmlns:a16="http://schemas.microsoft.com/office/drawing/2014/main" val="782087389"/>
                  </a:ext>
                </a:extLst>
              </a:tr>
              <a:tr h="228912">
                <a:tc>
                  <a:txBody>
                    <a:bodyPr/>
                    <a:lstStyle/>
                    <a:p>
                      <a:pPr marL="0" marR="0" algn="l">
                        <a:lnSpc>
                          <a:spcPct val="115000"/>
                        </a:lnSpc>
                        <a:spcAft>
                          <a:spcPts val="1000"/>
                        </a:spcAft>
                        <a:buNone/>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3.725133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42.672449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41932.872535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32490.545949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33.506614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3.663947e+06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Emerging Asset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extLst>
                  <a:ext uri="{0D108BD9-81ED-4DB2-BD59-A6C34878D82A}">
                    <a16:rowId xmlns:a16="http://schemas.microsoft.com/office/drawing/2014/main" val="2013693364"/>
                  </a:ext>
                </a:extLst>
              </a:tr>
              <a:tr h="228912">
                <a:tc>
                  <a:txBody>
                    <a:bodyPr/>
                    <a:lstStyle/>
                    <a:p>
                      <a:pPr marL="0" marR="0" algn="l">
                        <a:lnSpc>
                          <a:spcPct val="115000"/>
                        </a:lnSpc>
                        <a:spcAft>
                          <a:spcPts val="10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4.445821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49.194870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56586.368965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44633.599416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28.174056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4.797810e+06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High Value Asset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extLst>
                  <a:ext uri="{0D108BD9-81ED-4DB2-BD59-A6C34878D82A}">
                    <a16:rowId xmlns:a16="http://schemas.microsoft.com/office/drawing/2014/main" val="1309341920"/>
                  </a:ext>
                </a:extLst>
              </a:tr>
              <a:tr h="228912">
                <a:tc>
                  <a:txBody>
                    <a:bodyPr/>
                    <a:lstStyle/>
                    <a:p>
                      <a:pPr marL="0" marR="0" algn="l">
                        <a:lnSpc>
                          <a:spcPct val="115000"/>
                        </a:lnSpc>
                        <a:spcAft>
                          <a:spcPts val="10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4.374490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50.599037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36058.805363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13722.838871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26.684829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1.458884e+06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Budgeted Asset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extLst>
                  <a:ext uri="{0D108BD9-81ED-4DB2-BD59-A6C34878D82A}">
                    <a16:rowId xmlns:a16="http://schemas.microsoft.com/office/drawing/2014/main" val="4188982868"/>
                  </a:ext>
                </a:extLst>
              </a:tr>
              <a:tr h="228912">
                <a:tc>
                  <a:txBody>
                    <a:bodyPr/>
                    <a:lstStyle/>
                    <a:p>
                      <a:pPr marL="0" marR="0" algn="l">
                        <a:lnSpc>
                          <a:spcPct val="115000"/>
                        </a:lnSpc>
                        <a:spcAft>
                          <a:spcPts val="1000"/>
                        </a:spcAft>
                        <a:buNone/>
                      </a:pPr>
                      <a:r>
                        <a:rPr lang="en-US" sz="1200" kern="100">
                          <a:effectLst/>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5.891834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61.843302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56415.053546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19624.808790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17.913109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a:effectLst/>
                        </a:rPr>
                        <a:t>1.806224e+06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tc>
                  <a:txBody>
                    <a:bodyPr/>
                    <a:lstStyle/>
                    <a:p>
                      <a:pPr marL="0" marR="0" algn="l">
                        <a:lnSpc>
                          <a:spcPct val="115000"/>
                        </a:lnSpc>
                        <a:spcAft>
                          <a:spcPts val="1000"/>
                        </a:spcAft>
                        <a:buNone/>
                      </a:pPr>
                      <a:r>
                        <a:rPr lang="en-US" sz="1200" kern="100" dirty="0">
                          <a:effectLst/>
                        </a:rPr>
                        <a:t>Budgeted Asset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844" marR="46844" marT="46844" marB="46844" anchor="ctr"/>
                </a:tc>
                <a:extLst>
                  <a:ext uri="{0D108BD9-81ED-4DB2-BD59-A6C34878D82A}">
                    <a16:rowId xmlns:a16="http://schemas.microsoft.com/office/drawing/2014/main" val="969776603"/>
                  </a:ext>
                </a:extLst>
              </a:tr>
            </a:tbl>
          </a:graphicData>
        </a:graphic>
      </p:graphicFrame>
      <p:sp>
        <p:nvSpPr>
          <p:cNvPr id="80" name="Rectangle: Rounded Corners 79">
            <a:extLst>
              <a:ext uri="{FF2B5EF4-FFF2-40B4-BE49-F238E27FC236}">
                <a16:creationId xmlns:a16="http://schemas.microsoft.com/office/drawing/2014/main" id="{539CB9F4-4DD4-D9B5-BCEC-4B4C05CAC0FA}"/>
              </a:ext>
            </a:extLst>
          </p:cNvPr>
          <p:cNvSpPr/>
          <p:nvPr/>
        </p:nvSpPr>
        <p:spPr>
          <a:xfrm>
            <a:off x="3132406" y="1263483"/>
            <a:ext cx="1516967" cy="576777"/>
          </a:xfrm>
          <a:prstGeom prst="round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C1</a:t>
            </a:r>
          </a:p>
        </p:txBody>
      </p:sp>
      <p:sp>
        <p:nvSpPr>
          <p:cNvPr id="84" name="Rectangle: Rounded Corners 83">
            <a:extLst>
              <a:ext uri="{FF2B5EF4-FFF2-40B4-BE49-F238E27FC236}">
                <a16:creationId xmlns:a16="http://schemas.microsoft.com/office/drawing/2014/main" id="{E4D85FA5-E122-281F-2420-C72F99B6541D}"/>
              </a:ext>
            </a:extLst>
          </p:cNvPr>
          <p:cNvSpPr/>
          <p:nvPr/>
        </p:nvSpPr>
        <p:spPr>
          <a:xfrm>
            <a:off x="4841631" y="1263482"/>
            <a:ext cx="1516967" cy="576777"/>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C2</a:t>
            </a:r>
          </a:p>
        </p:txBody>
      </p:sp>
      <p:sp>
        <p:nvSpPr>
          <p:cNvPr id="85" name="Rectangle: Rounded Corners 84">
            <a:extLst>
              <a:ext uri="{FF2B5EF4-FFF2-40B4-BE49-F238E27FC236}">
                <a16:creationId xmlns:a16="http://schemas.microsoft.com/office/drawing/2014/main" id="{76B05762-555A-7848-EF93-EB16A044AF00}"/>
              </a:ext>
            </a:extLst>
          </p:cNvPr>
          <p:cNvSpPr/>
          <p:nvPr/>
        </p:nvSpPr>
        <p:spPr>
          <a:xfrm>
            <a:off x="6577817" y="1263481"/>
            <a:ext cx="1516967" cy="576777"/>
          </a:xfrm>
          <a:prstGeom prst="roundRect">
            <a:avLst/>
          </a:prstGeom>
          <a:solidFill>
            <a:srgbClr val="008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C3</a:t>
            </a:r>
          </a:p>
        </p:txBody>
      </p:sp>
      <p:sp>
        <p:nvSpPr>
          <p:cNvPr id="86" name="Rectangle: Rounded Corners 85">
            <a:extLst>
              <a:ext uri="{FF2B5EF4-FFF2-40B4-BE49-F238E27FC236}">
                <a16:creationId xmlns:a16="http://schemas.microsoft.com/office/drawing/2014/main" id="{3704360B-F241-F1E7-4F5C-BF847E5D3E58}"/>
              </a:ext>
            </a:extLst>
          </p:cNvPr>
          <p:cNvSpPr/>
          <p:nvPr/>
        </p:nvSpPr>
        <p:spPr>
          <a:xfrm>
            <a:off x="8342139" y="1263481"/>
            <a:ext cx="1516967" cy="576777"/>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C4</a:t>
            </a:r>
          </a:p>
        </p:txBody>
      </p:sp>
      <p:sp>
        <p:nvSpPr>
          <p:cNvPr id="87" name="Rectangle: Rounded Corners 86">
            <a:extLst>
              <a:ext uri="{FF2B5EF4-FFF2-40B4-BE49-F238E27FC236}">
                <a16:creationId xmlns:a16="http://schemas.microsoft.com/office/drawing/2014/main" id="{E0E15D75-000C-A64D-3B0E-3AE7ACE66C87}"/>
              </a:ext>
            </a:extLst>
          </p:cNvPr>
          <p:cNvSpPr/>
          <p:nvPr/>
        </p:nvSpPr>
        <p:spPr>
          <a:xfrm>
            <a:off x="10078325" y="1263480"/>
            <a:ext cx="1516967" cy="576777"/>
          </a:xfrm>
          <a:prstGeom prst="roundRect">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C5</a:t>
            </a:r>
          </a:p>
        </p:txBody>
      </p:sp>
      <p:sp>
        <p:nvSpPr>
          <p:cNvPr id="88" name="Rectangle: Rounded Corners 87">
            <a:extLst>
              <a:ext uri="{FF2B5EF4-FFF2-40B4-BE49-F238E27FC236}">
                <a16:creationId xmlns:a16="http://schemas.microsoft.com/office/drawing/2014/main" id="{F3909CF1-EBD8-B8EE-77E1-0CEF9E85064F}"/>
              </a:ext>
            </a:extLst>
          </p:cNvPr>
          <p:cNvSpPr/>
          <p:nvPr/>
        </p:nvSpPr>
        <p:spPr>
          <a:xfrm>
            <a:off x="3132405" y="1979588"/>
            <a:ext cx="1516967" cy="1382464"/>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latin typeface="Times New Roman" panose="02020603050405020304" pitchFamily="18" charset="0"/>
                <a:ea typeface="Calibri" pitchFamily="34" charset="-122"/>
                <a:cs typeface="Times New Roman" panose="02020603050405020304" pitchFamily="18" charset="0"/>
              </a:rPr>
              <a:t>Young nuclear HH, high MPCE, 46 remaining years. Future gold-mine consumers.</a:t>
            </a:r>
            <a:endParaRPr lang="en-US" sz="1000" b="1" dirty="0">
              <a:solidFill>
                <a:schemeClr val="bg1"/>
              </a:solidFill>
              <a:latin typeface="Times New Roman" panose="02020603050405020304" pitchFamily="18" charset="0"/>
              <a:cs typeface="Times New Roman" panose="02020603050405020304" pitchFamily="18" charset="0"/>
            </a:endParaRPr>
          </a:p>
          <a:p>
            <a:pPr algn="ctr"/>
            <a:endParaRPr lang="en-US" b="1" dirty="0"/>
          </a:p>
        </p:txBody>
      </p:sp>
      <p:sp>
        <p:nvSpPr>
          <p:cNvPr id="89" name="Rectangle: Rounded Corners 88">
            <a:extLst>
              <a:ext uri="{FF2B5EF4-FFF2-40B4-BE49-F238E27FC236}">
                <a16:creationId xmlns:a16="http://schemas.microsoft.com/office/drawing/2014/main" id="{82142927-B3E7-CDB6-6EF9-E4137AC4300A}"/>
              </a:ext>
            </a:extLst>
          </p:cNvPr>
          <p:cNvSpPr/>
          <p:nvPr/>
        </p:nvSpPr>
        <p:spPr>
          <a:xfrm>
            <a:off x="4841629" y="1979588"/>
            <a:ext cx="1516967" cy="1382464"/>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latin typeface="Times New Roman" panose="02020603050405020304" pitchFamily="18" charset="0"/>
                <a:ea typeface="Calibri" pitchFamily="34" charset="-122"/>
                <a:cs typeface="Times New Roman" panose="02020603050405020304" pitchFamily="18" charset="0"/>
              </a:rPr>
              <a:t>Mid-aged nuclear families, consistent shoppers trending toward High Value.</a:t>
            </a:r>
            <a:endParaRPr lang="en-US" sz="1000" b="1" dirty="0">
              <a:solidFill>
                <a:schemeClr val="bg1"/>
              </a:solidFill>
              <a:latin typeface="Times New Roman" panose="02020603050405020304" pitchFamily="18" charset="0"/>
              <a:cs typeface="Times New Roman" panose="02020603050405020304" pitchFamily="18" charset="0"/>
            </a:endParaRPr>
          </a:p>
          <a:p>
            <a:pPr algn="ctr"/>
            <a:endParaRPr lang="en-US" b="1" dirty="0"/>
          </a:p>
        </p:txBody>
      </p:sp>
      <p:sp>
        <p:nvSpPr>
          <p:cNvPr id="90" name="Rectangle: Rounded Corners 89">
            <a:extLst>
              <a:ext uri="{FF2B5EF4-FFF2-40B4-BE49-F238E27FC236}">
                <a16:creationId xmlns:a16="http://schemas.microsoft.com/office/drawing/2014/main" id="{350746C0-EBC5-A266-7200-254D8F97FC62}"/>
              </a:ext>
            </a:extLst>
          </p:cNvPr>
          <p:cNvSpPr/>
          <p:nvPr/>
        </p:nvSpPr>
        <p:spPr>
          <a:xfrm>
            <a:off x="6577817" y="1974154"/>
            <a:ext cx="1516967" cy="1382464"/>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latin typeface="Times New Roman" panose="02020603050405020304" pitchFamily="18" charset="0"/>
                <a:ea typeface="Calibri" pitchFamily="34" charset="-122"/>
                <a:cs typeface="Times New Roman" panose="02020603050405020304" pitchFamily="18" charset="0"/>
              </a:rPr>
              <a:t>Highest CLTV. Mature adults with highest affordability  most profitable cluster.</a:t>
            </a:r>
            <a:endParaRPr lang="en-US" sz="1000" b="1" dirty="0">
              <a:solidFill>
                <a:schemeClr val="bg1"/>
              </a:solidFill>
              <a:latin typeface="Times New Roman" panose="02020603050405020304" pitchFamily="18" charset="0"/>
              <a:cs typeface="Times New Roman" panose="02020603050405020304" pitchFamily="18" charset="0"/>
            </a:endParaRPr>
          </a:p>
          <a:p>
            <a:pPr algn="ctr"/>
            <a:endParaRPr lang="en-US" b="1" dirty="0"/>
          </a:p>
        </p:txBody>
      </p:sp>
      <p:sp>
        <p:nvSpPr>
          <p:cNvPr id="91" name="Rectangle: Rounded Corners 90">
            <a:extLst>
              <a:ext uri="{FF2B5EF4-FFF2-40B4-BE49-F238E27FC236}">
                <a16:creationId xmlns:a16="http://schemas.microsoft.com/office/drawing/2014/main" id="{30FE4C5B-2EC5-4FB7-88D4-A79A802D013E}"/>
              </a:ext>
            </a:extLst>
          </p:cNvPr>
          <p:cNvSpPr/>
          <p:nvPr/>
        </p:nvSpPr>
        <p:spPr>
          <a:xfrm>
            <a:off x="8342139" y="1974154"/>
            <a:ext cx="1516967" cy="1382464"/>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latin typeface="Times New Roman" panose="02020603050405020304" pitchFamily="18" charset="0"/>
                <a:ea typeface="Calibri" pitchFamily="34" charset="-122"/>
                <a:cs typeface="Times New Roman" panose="02020603050405020304" pitchFamily="18" charset="0"/>
              </a:rPr>
              <a:t>Price-conscious mature families. Essential-needs buyers with limited savings</a:t>
            </a:r>
            <a:r>
              <a:rPr lang="en-US" sz="800" i="1" dirty="0">
                <a:solidFill>
                  <a:srgbClr val="5A7080"/>
                </a:solidFill>
                <a:latin typeface="Calibri" pitchFamily="34" charset="0"/>
                <a:ea typeface="Calibri" pitchFamily="34" charset="-122"/>
                <a:cs typeface="Calibri" pitchFamily="34" charset="-120"/>
              </a:rPr>
              <a:t>.</a:t>
            </a:r>
            <a:endParaRPr lang="en-US" sz="800" dirty="0"/>
          </a:p>
          <a:p>
            <a:pPr algn="ctr"/>
            <a:endParaRPr lang="en-US" b="1" dirty="0"/>
          </a:p>
        </p:txBody>
      </p:sp>
      <p:sp>
        <p:nvSpPr>
          <p:cNvPr id="92" name="Rectangle: Rounded Corners 91">
            <a:extLst>
              <a:ext uri="{FF2B5EF4-FFF2-40B4-BE49-F238E27FC236}">
                <a16:creationId xmlns:a16="http://schemas.microsoft.com/office/drawing/2014/main" id="{39E00770-43A1-8DB1-D200-B635F3232C9A}"/>
              </a:ext>
            </a:extLst>
          </p:cNvPr>
          <p:cNvSpPr/>
          <p:nvPr/>
        </p:nvSpPr>
        <p:spPr>
          <a:xfrm>
            <a:off x="10106461" y="1924475"/>
            <a:ext cx="1516967" cy="1382464"/>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latin typeface="Times New Roman" panose="02020603050405020304" pitchFamily="18" charset="0"/>
                <a:ea typeface="Calibri" pitchFamily="34" charset="-122"/>
                <a:cs typeface="Times New Roman" panose="02020603050405020304" pitchFamily="18" charset="0"/>
              </a:rPr>
              <a:t>Largest joint families, bulk buyers with limited years  bundle purchase pattern.</a:t>
            </a:r>
            <a:endParaRPr lang="en-US" sz="1000" b="1" dirty="0">
              <a:solidFill>
                <a:schemeClr val="bg1"/>
              </a:solidFill>
              <a:latin typeface="Times New Roman" panose="02020603050405020304" pitchFamily="18" charset="0"/>
              <a:cs typeface="Times New Roman" panose="02020603050405020304" pitchFamily="18" charset="0"/>
            </a:endParaRPr>
          </a:p>
          <a:p>
            <a:pPr algn="ctr"/>
            <a:endParaRPr lang="en-US" b="1" dirty="0"/>
          </a:p>
        </p:txBody>
      </p:sp>
    </p:spTree>
    <p:extLst>
      <p:ext uri="{BB962C8B-B14F-4D97-AF65-F5344CB8AC3E}">
        <p14:creationId xmlns:p14="http://schemas.microsoft.com/office/powerpoint/2010/main" val="604183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0BD2A0-153B-AE29-5BC5-AAE05A8501A9}"/>
              </a:ext>
            </a:extLst>
          </p:cNvPr>
          <p:cNvSpPr/>
          <p:nvPr/>
        </p:nvSpPr>
        <p:spPr>
          <a:xfrm>
            <a:off x="3853374" y="191864"/>
            <a:ext cx="479005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Key Findings</a:t>
            </a:r>
          </a:p>
        </p:txBody>
      </p:sp>
      <p:pic>
        <p:nvPicPr>
          <p:cNvPr id="5" name="Picture 4">
            <a:extLst>
              <a:ext uri="{FF2B5EF4-FFF2-40B4-BE49-F238E27FC236}">
                <a16:creationId xmlns:a16="http://schemas.microsoft.com/office/drawing/2014/main" id="{A49D4D72-2D98-7F3D-2CC7-DDAEBEBC4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89" y="1055493"/>
            <a:ext cx="5065933" cy="2869394"/>
          </a:xfrm>
          <a:prstGeom prst="rect">
            <a:avLst/>
          </a:prstGeom>
        </p:spPr>
      </p:pic>
      <p:pic>
        <p:nvPicPr>
          <p:cNvPr id="6" name="Picture 5">
            <a:extLst>
              <a:ext uri="{FF2B5EF4-FFF2-40B4-BE49-F238E27FC236}">
                <a16:creationId xmlns:a16="http://schemas.microsoft.com/office/drawing/2014/main" id="{CD0E6339-227A-E70B-F539-78D74FA801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4024" y="1055492"/>
            <a:ext cx="6200789" cy="5610643"/>
          </a:xfrm>
          <a:prstGeom prst="rect">
            <a:avLst/>
          </a:prstGeom>
        </p:spPr>
      </p:pic>
      <p:sp>
        <p:nvSpPr>
          <p:cNvPr id="7" name="TextBox 6">
            <a:extLst>
              <a:ext uri="{FF2B5EF4-FFF2-40B4-BE49-F238E27FC236}">
                <a16:creationId xmlns:a16="http://schemas.microsoft.com/office/drawing/2014/main" id="{3A4892F4-F855-E923-C669-4D23905B49B7}"/>
              </a:ext>
            </a:extLst>
          </p:cNvPr>
          <p:cNvSpPr txBox="1"/>
          <p:nvPr/>
        </p:nvSpPr>
        <p:spPr>
          <a:xfrm>
            <a:off x="166589" y="4103625"/>
            <a:ext cx="5446420" cy="2462213"/>
          </a:xfrm>
          <a:prstGeom prst="rect">
            <a:avLst/>
          </a:prstGeom>
          <a:noFill/>
          <a:ln w="28575">
            <a:solidFill>
              <a:schemeClr val="tx1"/>
            </a:solidFill>
          </a:ln>
        </p:spPr>
        <p:txBody>
          <a:bodyPr wrap="square" rtlCol="0">
            <a:spAutoFit/>
          </a:bodyPr>
          <a:lstStyle>
            <a:defPPr>
              <a:defRPr lang="en-US"/>
            </a:defPPr>
            <a:lvl1pPr marL="285750" indent="-285750">
              <a:buFont typeface="Arial" panose="020B0604020202020204" pitchFamily="34" charset="0"/>
              <a:buChar char="•"/>
              <a:defRPr sz="1400" b="1">
                <a:solidFill>
                  <a:schemeClr val="bg1"/>
                </a:solidFill>
                <a:latin typeface="Times New Roman" panose="02020603050405020304" pitchFamily="18" charset="0"/>
                <a:cs typeface="Times New Roman" panose="02020603050405020304" pitchFamily="18" charset="0"/>
              </a:defRPr>
            </a:lvl1pPr>
          </a:lstStyle>
          <a:p>
            <a:r>
              <a:rPr lang="en-US" dirty="0"/>
              <a:t>The South has the highest concentration of Emerging and High Value assets. Since these tiers correlate with the heatmap</a:t>
            </a:r>
          </a:p>
          <a:p>
            <a:endParaRPr lang="en-US" dirty="0"/>
          </a:p>
          <a:p>
            <a:r>
              <a:rPr lang="en-US" dirty="0"/>
              <a:t>The heatmap shows that as customers move from Price Sensitive to High Value, their lifetime value jumps from 760k to 5.7M INR</a:t>
            </a:r>
          </a:p>
          <a:p>
            <a:endParaRPr lang="en-US" dirty="0"/>
          </a:p>
          <a:p>
            <a:r>
              <a:rPr lang="en-US" dirty="0"/>
              <a:t>The Top 20%  of  spenders (MPCE) contribute a staggering 5.7M INR in CLVT, which is over 7 times more than the lowest group.</a:t>
            </a:r>
          </a:p>
          <a:p>
            <a:r>
              <a:rPr lang="en-US" dirty="0"/>
              <a:t>The East and North East have the largest number of "Budgeted Asset" customers. Marketing here should focus on high-volume, low-cost goods to capture this massive middle-tier audience</a:t>
            </a:r>
          </a:p>
        </p:txBody>
      </p:sp>
    </p:spTree>
    <p:extLst>
      <p:ext uri="{BB962C8B-B14F-4D97-AF65-F5344CB8AC3E}">
        <p14:creationId xmlns:p14="http://schemas.microsoft.com/office/powerpoint/2010/main" val="1869593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8BDA4A-4F67-7A82-4793-3BD5B7332276}"/>
              </a:ext>
            </a:extLst>
          </p:cNvPr>
          <p:cNvSpPr/>
          <p:nvPr/>
        </p:nvSpPr>
        <p:spPr>
          <a:xfrm>
            <a:off x="2979419" y="248135"/>
            <a:ext cx="6233161" cy="684891"/>
          </a:xfrm>
          <a:prstGeom prst="rect">
            <a:avLst/>
          </a:prstGeom>
          <a:solidFill>
            <a:schemeClr val="accent6">
              <a:lumMod val="5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Conclusion &amp; Recommendations</a:t>
            </a:r>
          </a:p>
        </p:txBody>
      </p:sp>
      <p:sp>
        <p:nvSpPr>
          <p:cNvPr id="5" name="Rectangle: Rounded Corners 4">
            <a:extLst>
              <a:ext uri="{FF2B5EF4-FFF2-40B4-BE49-F238E27FC236}">
                <a16:creationId xmlns:a16="http://schemas.microsoft.com/office/drawing/2014/main" id="{17734D74-590B-9800-C863-82317E05DB9E}"/>
              </a:ext>
            </a:extLst>
          </p:cNvPr>
          <p:cNvSpPr/>
          <p:nvPr/>
        </p:nvSpPr>
        <p:spPr>
          <a:xfrm>
            <a:off x="284868" y="1140570"/>
            <a:ext cx="11622261" cy="5469295"/>
          </a:xfrm>
          <a:prstGeom prst="roundRect">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2C700D-94D5-C7AA-BFFA-7AE76508B79C}"/>
              </a:ext>
            </a:extLst>
          </p:cNvPr>
          <p:cNvSpPr txBox="1"/>
          <p:nvPr/>
        </p:nvSpPr>
        <p:spPr>
          <a:xfrm>
            <a:off x="745588" y="1350498"/>
            <a:ext cx="10803987" cy="1384995"/>
          </a:xfrm>
          <a:prstGeom prst="rect">
            <a:avLst/>
          </a:prstGeom>
          <a:noFill/>
          <a:ln w="28575">
            <a:solidFill>
              <a:schemeClr val="tx1"/>
            </a:solidFill>
          </a:ln>
        </p:spPr>
        <p:txBody>
          <a:bodyPr wrap="square" rtlCol="0">
            <a:spAutoFit/>
          </a:bodyPr>
          <a:lstStyle>
            <a:defPPr>
              <a:defRPr lang="en-US"/>
            </a:defPPr>
            <a:lvl1pPr marL="285750" indent="-285750">
              <a:buFont typeface="Arial" panose="020B0604020202020204" pitchFamily="34" charset="0"/>
              <a:buChar char="•"/>
              <a:defRPr sz="1400" b="1">
                <a:solidFill>
                  <a:schemeClr val="bg1"/>
                </a:solidFill>
                <a:latin typeface="Times New Roman" panose="02020603050405020304" pitchFamily="18" charset="0"/>
                <a:cs typeface="Times New Roman" panose="02020603050405020304" pitchFamily="18" charset="0"/>
              </a:defRPr>
            </a:lvl1pPr>
          </a:lstStyle>
          <a:p>
            <a:r>
              <a:rPr lang="en-US" dirty="0"/>
              <a:t>Conclusion</a:t>
            </a:r>
          </a:p>
          <a:p>
            <a:pPr marL="0" indent="0">
              <a:buNone/>
            </a:pPr>
            <a:r>
              <a:rPr lang="en-US" dirty="0"/>
              <a:t>To maximize profitability in the Indian market, businesses must replace broad marketing with precise segmentation into four tiers: Price Sensitive, Budgeted, Emerging, and High Value Assets. For long-term value, brands should focus their messaging on female heads of households, who act as the primary decision-makers in domestic spending. firms should invest in high-touch loyalty programs for the High Value and Emerging segments to secure massive lifetime returns. Conversely, low-cost, value-driven campaigns should be used for Price Sensitive tiers to keep acquisition costs low which could lead to low customer acquisition  cost.</a:t>
            </a:r>
          </a:p>
        </p:txBody>
      </p:sp>
      <p:sp>
        <p:nvSpPr>
          <p:cNvPr id="7" name="TextBox 6">
            <a:extLst>
              <a:ext uri="{FF2B5EF4-FFF2-40B4-BE49-F238E27FC236}">
                <a16:creationId xmlns:a16="http://schemas.microsoft.com/office/drawing/2014/main" id="{22B993B6-7AAE-1486-70B1-EB907DDDD3F6}"/>
              </a:ext>
            </a:extLst>
          </p:cNvPr>
          <p:cNvSpPr txBox="1"/>
          <p:nvPr/>
        </p:nvSpPr>
        <p:spPr>
          <a:xfrm>
            <a:off x="745588" y="2943037"/>
            <a:ext cx="10803987" cy="3323987"/>
          </a:xfrm>
          <a:prstGeom prst="rect">
            <a:avLst/>
          </a:prstGeom>
          <a:noFill/>
          <a:ln w="28575">
            <a:solidFill>
              <a:schemeClr val="tx1"/>
            </a:solidFill>
          </a:ln>
        </p:spPr>
        <p:txBody>
          <a:bodyPr wrap="square" rtlCol="0">
            <a:spAutoFit/>
          </a:bodyPr>
          <a:lstStyle>
            <a:defPPr>
              <a:defRPr lang="en-US"/>
            </a:defPPr>
            <a:lvl1pPr marL="285750" indent="-285750">
              <a:buFont typeface="Arial" panose="020B0604020202020204" pitchFamily="34" charset="0"/>
              <a:buChar char="•"/>
              <a:defRPr sz="1400" b="1">
                <a:solidFill>
                  <a:schemeClr val="bg1"/>
                </a:solidFill>
                <a:latin typeface="Times New Roman" panose="02020603050405020304" pitchFamily="18" charset="0"/>
                <a:cs typeface="Times New Roman" panose="02020603050405020304" pitchFamily="18" charset="0"/>
              </a:defRPr>
            </a:lvl1pPr>
          </a:lstStyle>
          <a:p>
            <a:r>
              <a:rPr lang="en-US" dirty="0"/>
              <a:t>Recommendation</a:t>
            </a:r>
          </a:p>
          <a:p>
            <a:endParaRPr lang="en-US" dirty="0"/>
          </a:p>
          <a:p>
            <a:r>
              <a:rPr lang="en-US" dirty="0"/>
              <a:t>Targeted Marketing - Since women make most of the shopping choices at home, businesses should target their ads specifically to them. This simple shift lowers the cost of finding new customers and builds much better long-term loyalty and sales. Also, on the consumer with high education levels since they form the complete high customer segment.</a:t>
            </a:r>
          </a:p>
          <a:p>
            <a:endParaRPr lang="en-US" dirty="0"/>
          </a:p>
          <a:p>
            <a:r>
              <a:rPr lang="en-US" dirty="0"/>
              <a:t>Budgeted Segmentation – Lower middle and Middle class is India's largest  group and main source of steady income. Instead of pushing for one-time expensive sales, use loyalty subscriptions and bulk discounts to keep them buying frequently, turning their massive numbers into reliable, long-term profit.</a:t>
            </a:r>
          </a:p>
          <a:p>
            <a:endParaRPr lang="en-US" dirty="0"/>
          </a:p>
          <a:p>
            <a:r>
              <a:rPr lang="en-US" dirty="0"/>
              <a:t>Premium Profiling -  high value customers  buy based on status and comfort, regardless of the economy. To keep them loyal, businesses must  offer Platinum  access and exclusive perks that make the brand a permanent part of their luxury lifestyle.</a:t>
            </a:r>
          </a:p>
          <a:p>
            <a:endParaRPr lang="en-US" dirty="0"/>
          </a:p>
          <a:p>
            <a:r>
              <a:rPr lang="en-US" dirty="0"/>
              <a:t>South and West as your high-profit digital hubs and the North as your market for physical growth the East and Central regions as your volume engine these areas may have lower spending per person, but their huge population is perfect for selling everyday items at scale.</a:t>
            </a:r>
          </a:p>
        </p:txBody>
      </p:sp>
    </p:spTree>
    <p:extLst>
      <p:ext uri="{BB962C8B-B14F-4D97-AF65-F5344CB8AC3E}">
        <p14:creationId xmlns:p14="http://schemas.microsoft.com/office/powerpoint/2010/main" val="224245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1704</Words>
  <Application>Microsoft Office PowerPoint</Application>
  <PresentationFormat>Widescreen</PresentationFormat>
  <Paragraphs>181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Google Sans Text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Adith Kadadi</dc:creator>
  <cp:lastModifiedBy>Adith Kadadi</cp:lastModifiedBy>
  <cp:revision>30</cp:revision>
  <dcterms:created xsi:type="dcterms:W3CDTF">2026-04-27T07:20:53Z</dcterms:created>
  <dcterms:modified xsi:type="dcterms:W3CDTF">2026-04-27T13:56:31Z</dcterms:modified>
</cp:coreProperties>
</file>